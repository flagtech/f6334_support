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15be06a9d046c1" /><Relationship Type="http://schemas.openxmlformats.org/officeDocument/2006/relationships/extended-properties" Target="/docProps/app.xml" Id="R01a8b8ff178d4e1b" /><Relationship Type="http://schemas.openxmlformats.org/officeDocument/2006/relationships/officeDocument" Target="/ppt/presentation.xml" Id="R4ce85d54371549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5f063fa63b43cb"/>
  </p:sldMasterIdLst>
  <p:notesMasterIdLst>
    <p:notesMasterId xmlns:r="http://schemas.openxmlformats.org/officeDocument/2006/relationships" r:id="R23f4efdc1e264605"/>
  </p:notesMasterIdLst>
  <p:sldIdLst>
    <p:sldId xmlns:r="http://schemas.openxmlformats.org/officeDocument/2006/relationships" id="256" r:id="Rcc39195ea7034d99"/>
    <p:sldId xmlns:r="http://schemas.openxmlformats.org/officeDocument/2006/relationships" id="257" r:id="R9b77b556357d4de5"/>
    <p:sldId xmlns:r="http://schemas.openxmlformats.org/officeDocument/2006/relationships" id="258" r:id="Re7e18d5552c24194"/>
    <p:sldId xmlns:r="http://schemas.openxmlformats.org/officeDocument/2006/relationships" id="259" r:id="R5f6809c2f4f14600"/>
    <p:sldId xmlns:r="http://schemas.openxmlformats.org/officeDocument/2006/relationships" id="260" r:id="R270dca7b6f9d41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f208aa075b4147" /><Relationship Type="http://schemas.openxmlformats.org/officeDocument/2006/relationships/slideMaster" Target="/ppt/slideMasters/slideMaster1.xml" Id="Rde5f063fa63b43cb" /><Relationship Type="http://schemas.openxmlformats.org/officeDocument/2006/relationships/notesMaster" Target="/ppt/notesMasters/notesMaster1.xml" Id="R23f4efdc1e264605" /><Relationship Type="http://schemas.openxmlformats.org/officeDocument/2006/relationships/presProps" Target="/ppt/presProps.xml" Id="R3a1e2173060b416c" /><Relationship Type="http://schemas.openxmlformats.org/officeDocument/2006/relationships/tableStyles" Target="/ppt/tableStyles.xml" Id="Ra6f2546502324b4f" /><Relationship Type="http://schemas.openxmlformats.org/officeDocument/2006/relationships/slide" Target="/ppt/slides/slide1.xml" Id="Rcc39195ea7034d99" /><Relationship Type="http://schemas.openxmlformats.org/officeDocument/2006/relationships/slide" Target="/ppt/slides/slide2.xml" Id="R9b77b556357d4de5" /><Relationship Type="http://schemas.openxmlformats.org/officeDocument/2006/relationships/slide" Target="/ppt/slides/slide3.xml" Id="Re7e18d5552c24194" /><Relationship Type="http://schemas.openxmlformats.org/officeDocument/2006/relationships/slide" Target="/ppt/slides/slide4.xml" Id="R5f6809c2f4f14600" /><Relationship Type="http://schemas.openxmlformats.org/officeDocument/2006/relationships/slide" Target="/ppt/slides/slide5.xml" Id="R270dca7b6f9d41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653791f7d449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d415a87b44847" /><Relationship Type="http://schemas.openxmlformats.org/officeDocument/2006/relationships/notesMaster" Target="/ppt/notesMasters/notesMaster1.xml" Id="Rd6d8fedd6e8e4a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13383a6d224d7d" /><Relationship Type="http://schemas.openxmlformats.org/officeDocument/2006/relationships/notesMaster" Target="/ppt/notesMasters/notesMaster1.xml" Id="R9974a86869ad4f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6e65c53b4c4a86" /><Relationship Type="http://schemas.openxmlformats.org/officeDocument/2006/relationships/notesMaster" Target="/ppt/notesMasters/notesMaster1.xml" Id="R92798f89b58d4e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9954a1b07f4f2e" /><Relationship Type="http://schemas.openxmlformats.org/officeDocument/2006/relationships/notesMaster" Target="/ppt/notesMasters/notesMaster1.xml" Id="R9a2ee0a1d2e247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ee4e3e24704ff9" /><Relationship Type="http://schemas.openxmlformats.org/officeDocument/2006/relationships/notesMaster" Target="/ppt/notesMasters/notesMaster1.xml" Id="R5267ae73f522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C:\旗標\F6334 codex\F6334 ch7_範例2更新.docx</a:t>
            </a:r>
          </a:p>
          <a:p xmlns:a="http://schemas.openxmlformats.org/drawingml/2006/main">
            <a:r>
              <a:t>- C:\旗標\F6334 codex\outputs\progress-deck\2026-W31-weekly-progress-outline.md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C:\旗標\F6334 codex\F6334 ch7_範例2更新.docx</a:t>
            </a:r>
          </a:p>
          <a:p xmlns:a="http://schemas.openxmlformats.org/drawingml/2006/main">
            <a:r>
              <a:t>- C:\旗標\F6334 codex\outputs\progress-deck\2026-W31-weekly-progress-outline.md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C:\旗標\F6334 codex\F6334 ch7_範例2更新.docx</a:t>
            </a:r>
          </a:p>
          <a:p xmlns:a="http://schemas.openxmlformats.org/drawingml/2006/main">
            <a:r>
              <a:t>- C:\旗標\F6334 codex\outputs\progress-deck\2026-W31-weekly-progress-outline.md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C:\旗標\F6334 codex\F6334 ch7_範例2更新.docx</a:t>
            </a:r>
          </a:p>
          <a:p xmlns:a="http://schemas.openxmlformats.org/drawingml/2006/main">
            <a:r>
              <a:t>- C:\旗標\F6334 codex\outputs\progress-deck\2026-W31-weekly-progress-outline.md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C:\旗標\F6334 codex\F6334 ch7_範例2更新.docx</a:t>
            </a:r>
          </a:p>
          <a:p xmlns:a="http://schemas.openxmlformats.org/drawingml/2006/main">
            <a:r>
              <a:t>- C:\旗標\F6334 codex\outputs\progress-deck\2026-W31-weekly-progress-outline.md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a55f3868e47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8b2d4dde664173" /><Relationship Type="http://schemas.openxmlformats.org/officeDocument/2006/relationships/slideLayout" Target="/ppt/slideLayouts/slideLayout1.xml" Id="R400e02388e1a47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0e02388e1a47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08a9b2edb4c44" /><Relationship Type="http://schemas.openxmlformats.org/officeDocument/2006/relationships/notesSlide" Target="/ppt/notesSlides/notesSlide1.xml" Id="Re816cfe30a3b46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848e9fb5b4d91" /><Relationship Type="http://schemas.openxmlformats.org/officeDocument/2006/relationships/notesSlide" Target="/ppt/notesSlides/notesSlide2.xml" Id="R73129d6a381742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04259eafa496e" /><Relationship Type="http://schemas.openxmlformats.org/officeDocument/2006/relationships/notesSlide" Target="/ppt/notesSlides/notesSlide3.xml" Id="Rae7de1c02917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f081eaf4f4fb7" /><Relationship Type="http://schemas.openxmlformats.org/officeDocument/2006/relationships/notesSlide" Target="/ppt/notesSlides/notesSlide4.xml" Id="R9fb0a0d6864040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b7c638dc34a3a" /><Relationship Type="http://schemas.openxmlformats.org/officeDocument/2006/relationships/notesSlide" Target="/ppt/notesSlides/notesSlide5.xml" Id="R4c4a975734df47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A468F80-6AA6-4F26-95BF-347D728F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1E3"/>
                </a:solidFill>
                <a:latin typeface="Aptos"/>
                <a:ea typeface="Aptos"/>
                <a:cs typeface="Aptos"/>
              </a:rPr>
              <a:t>第 7 章｜本週進度更新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9F2CD933-DA33-494A-9495-E0B8166A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48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本週已形成 7 個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48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可閱讀案例初稿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54A029BC-BBE9-4AF8-8E3C-93A57794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管理排程與進度追蹤｜2026 年 7 月 29 日</a:t>
            </a:r>
          </a:p>
        </p:txBody>
      </p:sp>
      <p:sp>
        <p:nvSpPr>
          <p:cNvPr id="4" name="metric">
            <a:extLst xmlns:a="http://schemas.openxmlformats.org/drawingml/2006/main">
              <a:ext uri="{FF2B5EF4-FFF2-40B4-BE49-F238E27FC236}">
                <a16:creationId xmlns:a16="http://schemas.microsoft.com/office/drawing/2014/main" id="{E576A360-6D1F-4608-96C6-5112176D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900" b="1">
                <a:solidFill>
                  <a:srgbClr val="0071E3"/>
                </a:solidFill>
                <a:latin typeface="Aptos Display"/>
                <a:ea typeface="Aptos Display"/>
                <a:cs typeface="Aptos Display"/>
              </a:defRPr>
            </a:pPr>
            <a:r>
              <a:rPr sz="6900" b="1">
                <a:solidFill>
                  <a:srgbClr val="0071E3"/>
                </a:solidFill>
                <a:latin typeface="Aptos Display"/>
                <a:ea typeface="Aptos Display"/>
                <a:cs typeface="Aptos Display"/>
              </a:rPr>
              <a:t>7／10</a:t>
            </a:r>
          </a:p>
        </p:txBody>
      </p:sp>
      <p:sp>
        <p:nvSpPr>
          <p:cNvPr id="5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4D0BB8D-7C03-43D8-9825-13184789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09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章節初稿已有實質內容</a:t>
            </a:r>
          </a:p>
        </p:txBody>
      </p:sp>
      <p:sp>
        <p:nvSpPr>
          <p:cNvPr id="6" name="progress-track">
            <a:extLst xmlns:a="http://schemas.openxmlformats.org/drawingml/2006/main">
              <a:ext uri="{FF2B5EF4-FFF2-40B4-BE49-F238E27FC236}">
                <a16:creationId xmlns:a16="http://schemas.microsoft.com/office/drawing/2014/main" id="{96364762-C365-4336-A732-DDB92DEF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143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D2D2D7"/>
            </a:solidFill>
            <a:prstDash val="solid"/>
          </a:ln>
        </p:spPr>
      </p:sp>
      <p:sp>
        <p:nvSpPr>
          <p:cNvPr id="7" name="progress-value">
            <a:extLst xmlns:a="http://schemas.openxmlformats.org/drawingml/2006/main">
              <a:ext uri="{FF2B5EF4-FFF2-40B4-BE49-F238E27FC236}">
                <a16:creationId xmlns:a16="http://schemas.microsoft.com/office/drawing/2014/main" id="{611AB9D1-57CE-4FCA-B0B0-495A4E4B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220027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8" name="metric-note">
            <a:extLst xmlns:a="http://schemas.openxmlformats.org/drawingml/2006/main">
              <a:ext uri="{FF2B5EF4-FFF2-40B4-BE49-F238E27FC236}">
                <a16:creationId xmlns:a16="http://schemas.microsoft.com/office/drawing/2014/main" id="{7D8ABC5B-F302-4687-A77E-D965BB3F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這是文件初稿進度，不等同原排程完成率</a:t>
            </a:r>
          </a:p>
        </p:txBody>
      </p:sp>
      <p:sp>
        <p:nvSpPr>
          <p:cNvPr id="9" name="bottom-rule">
            <a:extLst xmlns:a="http://schemas.openxmlformats.org/drawingml/2006/main">
              <a:ext uri="{FF2B5EF4-FFF2-40B4-BE49-F238E27FC236}">
                <a16:creationId xmlns:a16="http://schemas.microsoft.com/office/drawing/2014/main" id="{4ED4CC10-6217-4BC7-9380-BD6CC50B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6F9021F1-4B9A-45FB-977C-18451FD7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從零散構想推進到可閱讀初稿；下一步是對齊最終案例範圍。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D8EAE8D-0FF8-463C-B8CF-86550D5B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專案或習慣的排程與進度追蹤｜2026 W31</a:t>
            </a:r>
          </a:p>
        </p:txBody>
      </p:sp>
    </p:spTree>
    <p:extLst>
      <p:ext uri="{BB962C8B-B14F-4D97-AF65-F5344CB8AC3E}">
        <p14:creationId xmlns:p14="http://schemas.microsoft.com/office/powerpoint/2010/main" val="160828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53BD22B-664A-45A8-A89B-FF23A9C5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五項原排程案例，已串成一條完整工作流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113C1E6-2D99-4090-93F8-6AD6434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90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39B7658B-A546-4EFA-A913-98CFD825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" name="connector-1">
            <a:extLst xmlns:a="http://schemas.openxmlformats.org/drawingml/2006/main">
              <a:ext uri="{FF2B5EF4-FFF2-40B4-BE49-F238E27FC236}">
                <a16:creationId xmlns:a16="http://schemas.microsoft.com/office/drawing/2014/main" id="{6FFF511B-FD57-4272-9B13-D3D3B56D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0510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1E3"/>
            </a:solidFill>
            <a:prstDash val="solid"/>
          </a:ln>
        </p:spPr>
      </p:sp>
      <p:sp>
        <p:nvSpPr>
          <p:cNvPr id="5" name="connector-2">
            <a:extLst xmlns:a="http://schemas.openxmlformats.org/drawingml/2006/main">
              <a:ext uri="{FF2B5EF4-FFF2-40B4-BE49-F238E27FC236}">
                <a16:creationId xmlns:a16="http://schemas.microsoft.com/office/drawing/2014/main" id="{E8F74425-4588-4142-A74D-DAA29231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0510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1E3"/>
            </a:solidFill>
            <a:prstDash val="solid"/>
          </a:ln>
        </p:spPr>
      </p:sp>
      <p:sp>
        <p:nvSpPr>
          <p:cNvPr id="6" name="connector-3">
            <a:extLst xmlns:a="http://schemas.openxmlformats.org/drawingml/2006/main">
              <a:ext uri="{FF2B5EF4-FFF2-40B4-BE49-F238E27FC236}">
                <a16:creationId xmlns:a16="http://schemas.microsoft.com/office/drawing/2014/main" id="{132310C7-10B4-4248-8B66-1B7E2EC7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1E3"/>
            </a:solidFill>
            <a:prstDash val="solid"/>
          </a:ln>
        </p:spPr>
      </p:sp>
      <p:sp>
        <p:nvSpPr>
          <p:cNvPr id="7" name="connector-4">
            <a:extLst xmlns:a="http://schemas.openxmlformats.org/drawingml/2006/main">
              <a:ext uri="{FF2B5EF4-FFF2-40B4-BE49-F238E27FC236}">
                <a16:creationId xmlns:a16="http://schemas.microsoft.com/office/drawing/2014/main" id="{2BF2419B-6D32-4DC0-9CAB-6303BD6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1E3"/>
            </a:solidFill>
            <a:prstDash val="solid"/>
          </a:ln>
        </p:spPr>
      </p:sp>
      <p:sp>
        <p:nvSpPr>
          <p:cNvPr id="8" name="stage-circle-1">
            <a:extLst xmlns:a="http://schemas.openxmlformats.org/drawingml/2006/main">
              <a:ext uri="{FF2B5EF4-FFF2-40B4-BE49-F238E27FC236}">
                <a16:creationId xmlns:a16="http://schemas.microsoft.com/office/drawing/2014/main" id="{83E63751-77D6-4B1B-A7C2-1CAE9AA6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9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28F21BBB-B5CB-417A-8BD2-B3A480A3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AC3B209C-1DCC-45B1-A423-939E90CF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拆解</a:t>
            </a:r>
          </a:p>
        </p:txBody>
      </p:sp>
      <p:sp>
        <p:nvSpPr>
          <p:cNvPr id="11" name="stage-copy-1">
            <a:extLst xmlns:a="http://schemas.openxmlformats.org/drawingml/2006/main">
              <a:ext uri="{FF2B5EF4-FFF2-40B4-BE49-F238E27FC236}">
                <a16:creationId xmlns:a16="http://schemas.microsoft.com/office/drawing/2014/main" id="{E9082555-699A-442C-AC2E-2BABF478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638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大型任務變成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可立即開始的小任務</a:t>
            </a:r>
          </a:p>
        </p:txBody>
      </p:sp>
      <p:sp>
        <p:nvSpPr>
          <p:cNvPr id="12" name="stage-circle-2">
            <a:extLst xmlns:a="http://schemas.openxmlformats.org/drawingml/2006/main">
              <a:ext uri="{FF2B5EF4-FFF2-40B4-BE49-F238E27FC236}">
                <a16:creationId xmlns:a16="http://schemas.microsoft.com/office/drawing/2014/main" id="{69EF639B-FE01-4DE7-8902-EEC8E1D4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13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5AD11131-C75E-48B7-910E-3520C186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9B8FB53A-CD84-4507-ABE7-10FA2B29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排程</a:t>
            </a:r>
          </a:p>
        </p:txBody>
      </p:sp>
      <p:sp>
        <p:nvSpPr>
          <p:cNvPr id="15" name="stage-copy-2">
            <a:extLst xmlns:a="http://schemas.openxmlformats.org/drawingml/2006/main">
              <a:ext uri="{FF2B5EF4-FFF2-40B4-BE49-F238E27FC236}">
                <a16:creationId xmlns:a16="http://schemas.microsoft.com/office/drawing/2014/main" id="{C8997B0E-FD48-4751-9F4C-590123D9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1638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把多項任務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排進行事曆</a:t>
            </a:r>
          </a:p>
        </p:txBody>
      </p:sp>
      <p:sp>
        <p:nvSpPr>
          <p:cNvPr id="16" name="stage-circle-3">
            <a:extLst xmlns:a="http://schemas.openxmlformats.org/drawingml/2006/main">
              <a:ext uri="{FF2B5EF4-FFF2-40B4-BE49-F238E27FC236}">
                <a16:creationId xmlns:a16="http://schemas.microsoft.com/office/drawing/2014/main" id="{203E805E-41F1-4945-85D2-60139180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622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17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8644564B-D165-48A9-A92E-0E9DCCF4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F351326-DE89-4AA3-A07E-CC4120F3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147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執行</a:t>
            </a:r>
          </a:p>
        </p:txBody>
      </p:sp>
      <p:sp>
        <p:nvSpPr>
          <p:cNvPr id="19" name="stage-copy-3">
            <a:extLst xmlns:a="http://schemas.openxmlformats.org/drawingml/2006/main">
              <a:ext uri="{FF2B5EF4-FFF2-40B4-BE49-F238E27FC236}">
                <a16:creationId xmlns:a16="http://schemas.microsoft.com/office/drawing/2014/main" id="{1C2436EA-7FAE-4401-845D-AB409628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10000"/>
            <a:ext cx="1638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依工作狀態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調整番茄鐘</a:t>
            </a:r>
          </a:p>
        </p:txBody>
      </p:sp>
      <p:sp>
        <p:nvSpPr>
          <p:cNvPr id="20" name="stage-circle-4">
            <a:extLst xmlns:a="http://schemas.openxmlformats.org/drawingml/2006/main">
              <a:ext uri="{FF2B5EF4-FFF2-40B4-BE49-F238E27FC236}">
                <a16:creationId xmlns:a16="http://schemas.microsoft.com/office/drawing/2014/main" id="{F76D1650-448D-4FA7-B7A5-B84444BA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622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21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2BAC1E2E-4490-4120-AAF4-DCABEDB2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stage-title-4">
            <a:extLst xmlns:a="http://schemas.openxmlformats.org/drawingml/2006/main">
              <a:ext uri="{FF2B5EF4-FFF2-40B4-BE49-F238E27FC236}">
                <a16:creationId xmlns:a16="http://schemas.microsoft.com/office/drawing/2014/main" id="{FD3F68DA-95BC-4C13-8C41-B5B0FFF9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紀錄</a:t>
            </a:r>
          </a:p>
        </p:txBody>
      </p:sp>
      <p:sp>
        <p:nvSpPr>
          <p:cNvPr id="23" name="stage-copy-4">
            <a:extLst xmlns:a="http://schemas.openxmlformats.org/drawingml/2006/main">
              <a:ext uri="{FF2B5EF4-FFF2-40B4-BE49-F238E27FC236}">
                <a16:creationId xmlns:a16="http://schemas.microsoft.com/office/drawing/2014/main" id="{DFB3DBC8-5CAF-4444-AC6A-99BC5E61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10000"/>
            <a:ext cx="1638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建立會議紀錄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工作流程</a:t>
            </a:r>
          </a:p>
        </p:txBody>
      </p:sp>
      <p:sp>
        <p:nvSpPr>
          <p:cNvPr id="24" name="stage-circle-5">
            <a:extLst xmlns:a="http://schemas.openxmlformats.org/drawingml/2006/main">
              <a:ext uri="{FF2B5EF4-FFF2-40B4-BE49-F238E27FC236}">
                <a16:creationId xmlns:a16="http://schemas.microsoft.com/office/drawing/2014/main" id="{D366A939-2EEF-4FE2-BD68-416E645C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25" name="stage-number-5">
            <a:extLst xmlns:a="http://schemas.openxmlformats.org/drawingml/2006/main">
              <a:ext uri="{FF2B5EF4-FFF2-40B4-BE49-F238E27FC236}">
                <a16:creationId xmlns:a16="http://schemas.microsoft.com/office/drawing/2014/main" id="{1A0E70E8-4BAA-42FB-B906-2FAF22DB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stage-title-5">
            <a:extLst xmlns:a="http://schemas.openxmlformats.org/drawingml/2006/main">
              <a:ext uri="{FF2B5EF4-FFF2-40B4-BE49-F238E27FC236}">
                <a16:creationId xmlns:a16="http://schemas.microsoft.com/office/drawing/2014/main" id="{0AB8D06B-7A1F-42CA-899A-6121CE04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1470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銜接</a:t>
            </a:r>
          </a:p>
        </p:txBody>
      </p:sp>
      <p:sp>
        <p:nvSpPr>
          <p:cNvPr id="27" name="stage-copy-5">
            <a:extLst xmlns:a="http://schemas.openxmlformats.org/drawingml/2006/main">
              <a:ext uri="{FF2B5EF4-FFF2-40B4-BE49-F238E27FC236}">
                <a16:creationId xmlns:a16="http://schemas.microsoft.com/office/drawing/2014/main" id="{613250D4-686B-434D-8662-B30965AA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0000"/>
            <a:ext cx="1638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一鍵產生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工作區導覽卡</a:t>
            </a:r>
          </a:p>
        </p:txBody>
      </p:sp>
      <p:sp>
        <p:nvSpPr>
          <p:cNvPr id="28" name="workflow-takeaway">
            <a:extLst xmlns:a="http://schemas.openxmlformats.org/drawingml/2006/main">
              <a:ext uri="{FF2B5EF4-FFF2-40B4-BE49-F238E27FC236}">
                <a16:creationId xmlns:a16="http://schemas.microsoft.com/office/drawing/2014/main" id="{10FDF2B1-8FA8-488D-93B0-9F954561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06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目前最完整的成果，集中在「拆解 → 排程 → 執行 → 紀錄 → 銜接」。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0AB64DFC-6144-40B2-8450-A473B431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專案或習慣的排程與進度追蹤｜2026 W31</a:t>
            </a:r>
          </a:p>
        </p:txBody>
      </p:sp>
    </p:spTree>
    <p:extLst>
      <p:ext uri="{BB962C8B-B14F-4D97-AF65-F5344CB8AC3E}">
        <p14:creationId xmlns:p14="http://schemas.microsoft.com/office/powerpoint/2010/main" val="1978421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A58675C-354A-41BE-B29A-136A688F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七項已有初稿，其中兩項屬於新增或改題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74450419-0645-4958-AFEA-77DFED63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90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8BEAC2EB-87B0-4589-8F86-1200A8D1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" name="col-1">
            <a:extLst xmlns:a="http://schemas.openxmlformats.org/drawingml/2006/main">
              <a:ext uri="{FF2B5EF4-FFF2-40B4-BE49-F238E27FC236}">
                <a16:creationId xmlns:a16="http://schemas.microsoft.com/office/drawing/2014/main" id="{2FFF3008-EF19-4140-A06C-104473F3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現稿範例</a:t>
            </a:r>
          </a:p>
        </p:txBody>
      </p:sp>
      <p:sp>
        <p:nvSpPr>
          <p:cNvPr id="5" name="col-2">
            <a:extLst xmlns:a="http://schemas.openxmlformats.org/drawingml/2006/main">
              <a:ext uri="{FF2B5EF4-FFF2-40B4-BE49-F238E27FC236}">
                <a16:creationId xmlns:a16="http://schemas.microsoft.com/office/drawing/2014/main" id="{302671D6-5D74-4FCD-B71C-C42E2A5E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62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與原排程關係</a:t>
            </a:r>
          </a:p>
        </p:txBody>
      </p:sp>
      <p:sp>
        <p:nvSpPr>
          <p:cNvPr id="6" name="col-3">
            <a:extLst xmlns:a="http://schemas.openxmlformats.org/drawingml/2006/main">
              <a:ext uri="{FF2B5EF4-FFF2-40B4-BE49-F238E27FC236}">
                <a16:creationId xmlns:a16="http://schemas.microsoft.com/office/drawing/2014/main" id="{5274D03B-D93F-493D-B593-11EC7A73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62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6E73"/>
                </a:solidFill>
                <a:latin typeface="Aptos"/>
                <a:ea typeface="Aptos"/>
                <a:cs typeface="Aptos"/>
              </a:rPr>
              <a:t>狀態</a:t>
            </a:r>
          </a:p>
        </p:txBody>
      </p:sp>
      <p:sp>
        <p:nvSpPr>
          <p:cNvPr id="7" name="table-head-rule">
            <a:extLst xmlns:a="http://schemas.openxmlformats.org/drawingml/2006/main">
              <a:ext uri="{FF2B5EF4-FFF2-40B4-BE49-F238E27FC236}">
                <a16:creationId xmlns:a16="http://schemas.microsoft.com/office/drawing/2014/main" id="{2A867E1B-DF78-4078-B684-C362EA7D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D1D1F"/>
            </a:solidFill>
            <a:prstDash val="solid"/>
          </a:ln>
        </p:spPr>
      </p:sp>
      <p:sp>
        <p:nvSpPr>
          <p:cNvPr id="8" name="row-1-name">
            <a:extLst xmlns:a="http://schemas.openxmlformats.org/drawingml/2006/main">
              <a:ext uri="{FF2B5EF4-FFF2-40B4-BE49-F238E27FC236}">
                <a16:creationId xmlns:a16="http://schemas.microsoft.com/office/drawing/2014/main" id="{5659FD1F-CCF9-4E9F-8E33-0C1BF8E3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1F"/>
                </a:solidFill>
                <a:latin typeface="Aptos"/>
                <a:ea typeface="Aptos"/>
                <a:cs typeface="Aptos"/>
              </a:rPr>
              <a:t>拆解每日任務，建立每日任務板</a:t>
            </a:r>
          </a:p>
        </p:txBody>
      </p:sp>
      <p:sp>
        <p:nvSpPr>
          <p:cNvPr id="9" name="row-1-mapping">
            <a:extLst xmlns:a="http://schemas.openxmlformats.org/drawingml/2006/main">
              <a:ext uri="{FF2B5EF4-FFF2-40B4-BE49-F238E27FC236}">
                <a16:creationId xmlns:a16="http://schemas.microsoft.com/office/drawing/2014/main" id="{D4E25680-A5F2-4844-8F9A-C5911A11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對應案例 5</a:t>
            </a:r>
          </a:p>
        </p:txBody>
      </p:sp>
      <p:sp>
        <p:nvSpPr>
          <p:cNvPr id="10" name="row-1-status">
            <a:extLst xmlns:a="http://schemas.openxmlformats.org/drawingml/2006/main">
              <a:ext uri="{FF2B5EF4-FFF2-40B4-BE49-F238E27FC236}">
                <a16:creationId xmlns:a16="http://schemas.microsoft.com/office/drawing/2014/main" id="{65343F23-DEEC-49EC-8027-19349B46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1E3"/>
                </a:solidFill>
                <a:latin typeface="Aptos"/>
                <a:ea typeface="Aptos"/>
                <a:cs typeface="Aptos"/>
              </a:rPr>
              <a:t>直接對應</a:t>
            </a:r>
          </a:p>
        </p:txBody>
      </p:sp>
      <p:sp>
        <p:nvSpPr>
          <p:cNvPr id="11" name="row-1-rule">
            <a:extLst xmlns:a="http://schemas.openxmlformats.org/drawingml/2006/main">
              <a:ext uri="{FF2B5EF4-FFF2-40B4-BE49-F238E27FC236}">
                <a16:creationId xmlns:a16="http://schemas.microsoft.com/office/drawing/2014/main" id="{DCDE614F-92B5-4C79-89F0-334E7FF3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2" name="row-2-name">
            <a:extLst xmlns:a="http://schemas.openxmlformats.org/drawingml/2006/main">
              <a:ext uri="{FF2B5EF4-FFF2-40B4-BE49-F238E27FC236}">
                <a16:creationId xmlns:a16="http://schemas.microsoft.com/office/drawing/2014/main" id="{C37CEFFA-F5E9-4E0D-B66C-9A191FD9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1F"/>
                </a:solidFill>
                <a:latin typeface="Aptos"/>
                <a:ea typeface="Aptos"/>
                <a:cs typeface="Aptos"/>
              </a:rPr>
              <a:t>把行程排進 Google Calendar</a:t>
            </a:r>
          </a:p>
        </p:txBody>
      </p:sp>
      <p:sp>
        <p:nvSpPr>
          <p:cNvPr id="13" name="row-2-mapping">
            <a:extLst xmlns:a="http://schemas.openxmlformats.org/drawingml/2006/main">
              <a:ext uri="{FF2B5EF4-FFF2-40B4-BE49-F238E27FC236}">
                <a16:creationId xmlns:a16="http://schemas.microsoft.com/office/drawing/2014/main" id="{617BD114-33E9-4A00-8993-71284C0B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對應案例 6</a:t>
            </a:r>
          </a:p>
        </p:txBody>
      </p:sp>
      <p:sp>
        <p:nvSpPr>
          <p:cNvPr id="14" name="row-2-status">
            <a:extLst xmlns:a="http://schemas.openxmlformats.org/drawingml/2006/main">
              <a:ext uri="{FF2B5EF4-FFF2-40B4-BE49-F238E27FC236}">
                <a16:creationId xmlns:a16="http://schemas.microsoft.com/office/drawing/2014/main" id="{2B11C565-B8EA-421C-8397-FBBA00D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1E3"/>
                </a:solidFill>
                <a:latin typeface="Aptos"/>
                <a:ea typeface="Aptos"/>
                <a:cs typeface="Aptos"/>
              </a:rPr>
              <a:t>直接對應</a:t>
            </a:r>
          </a:p>
        </p:txBody>
      </p:sp>
      <p:sp>
        <p:nvSpPr>
          <p:cNvPr id="15" name="row-2-rule">
            <a:extLst xmlns:a="http://schemas.openxmlformats.org/drawingml/2006/main">
              <a:ext uri="{FF2B5EF4-FFF2-40B4-BE49-F238E27FC236}">
                <a16:creationId xmlns:a16="http://schemas.microsoft.com/office/drawing/2014/main" id="{AB25B1BA-BB78-4BB3-B2C7-BDA0D5CE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6" name="row-3-name">
            <a:extLst xmlns:a="http://schemas.openxmlformats.org/drawingml/2006/main">
              <a:ext uri="{FF2B5EF4-FFF2-40B4-BE49-F238E27FC236}">
                <a16:creationId xmlns:a16="http://schemas.microsoft.com/office/drawing/2014/main" id="{4896A4AF-C9D9-4265-B053-CE283134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每天早上產生行程簡報</a:t>
            </a:r>
          </a:p>
        </p:txBody>
      </p:sp>
      <p:sp>
        <p:nvSpPr>
          <p:cNvPr id="17" name="row-3-rocket">
            <a:extLst xmlns:a="http://schemas.openxmlformats.org/drawingml/2006/main">
              <a:ext uri="{FF2B5EF4-FFF2-40B4-BE49-F238E27FC236}">
                <a16:creationId xmlns:a16="http://schemas.microsoft.com/office/drawing/2014/main" id="{8F6D34F8-4269-4A20-BF27-C73D5A1B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1D1D1F"/>
                </a:solidFill>
                <a:latin typeface="Segoe UI Emoji"/>
                <a:ea typeface="Segoe UI Emoji"/>
                <a:cs typeface="Segoe UI Emoji"/>
              </a:defRPr>
            </a:pPr>
            <a:r>
              <a:rPr sz="2250" b="0">
                <a:solidFill>
                  <a:srgbClr val="1D1D1F"/>
                </a:solidFill>
                <a:latin typeface="Segoe UI Emoji"/>
                <a:ea typeface="Segoe UI Emoji"/>
                <a:cs typeface="Segoe UI Emoji"/>
              </a:rPr>
              <a:t>🚀</a:t>
            </a:r>
          </a:p>
        </p:txBody>
      </p:sp>
      <p:sp>
        <p:nvSpPr>
          <p:cNvPr id="18" name="row-3-mapping">
            <a:extLst xmlns:a="http://schemas.openxmlformats.org/drawingml/2006/main">
              <a:ext uri="{FF2B5EF4-FFF2-40B4-BE49-F238E27FC236}">
                <a16:creationId xmlns:a16="http://schemas.microsoft.com/office/drawing/2014/main" id="{5CB38FF0-E447-4C0B-BF25-42FE1B17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15C0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15C00"/>
                </a:solidFill>
                <a:latin typeface="Aptos"/>
                <a:ea typeface="Aptos"/>
                <a:cs typeface="Aptos"/>
              </a:rPr>
              <a:t>新增／改題</a:t>
            </a:r>
          </a:p>
        </p:txBody>
      </p:sp>
      <p:sp>
        <p:nvSpPr>
          <p:cNvPr id="19" name="row-3-status">
            <a:extLst xmlns:a="http://schemas.openxmlformats.org/drawingml/2006/main">
              <a:ext uri="{FF2B5EF4-FFF2-40B4-BE49-F238E27FC236}">
                <a16:creationId xmlns:a16="http://schemas.microsoft.com/office/drawing/2014/main" id="{53356666-4EB8-4F8E-B648-0D59383F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67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A15C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15C00"/>
                </a:solidFill>
                <a:latin typeface="Aptos"/>
                <a:ea typeface="Aptos"/>
                <a:cs typeface="Aptos"/>
              </a:rPr>
              <a:t>需決策</a:t>
            </a:r>
          </a:p>
        </p:txBody>
      </p:sp>
      <p:sp>
        <p:nvSpPr>
          <p:cNvPr id="20" name="row-3-rule">
            <a:extLst xmlns:a="http://schemas.openxmlformats.org/drawingml/2006/main">
              <a:ext uri="{FF2B5EF4-FFF2-40B4-BE49-F238E27FC236}">
                <a16:creationId xmlns:a16="http://schemas.microsoft.com/office/drawing/2014/main" id="{7AA1ADAF-2A0E-418B-AAEA-FECF234E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row-4-name">
            <a:extLst xmlns:a="http://schemas.openxmlformats.org/drawingml/2006/main">
              <a:ext uri="{FF2B5EF4-FFF2-40B4-BE49-F238E27FC236}">
                <a16:creationId xmlns:a16="http://schemas.microsoft.com/office/drawing/2014/main" id="{BBF9EF94-1917-437F-976C-AFBAAA75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1F"/>
                </a:solidFill>
                <a:latin typeface="Aptos"/>
                <a:ea typeface="Aptos"/>
                <a:cs typeface="Aptos"/>
              </a:rPr>
              <a:t>會調整時間的番茄鐘網頁</a:t>
            </a:r>
          </a:p>
        </p:txBody>
      </p:sp>
      <p:sp>
        <p:nvSpPr>
          <p:cNvPr id="22" name="row-4-mapping">
            <a:extLst xmlns:a="http://schemas.openxmlformats.org/drawingml/2006/main">
              <a:ext uri="{FF2B5EF4-FFF2-40B4-BE49-F238E27FC236}">
                <a16:creationId xmlns:a16="http://schemas.microsoft.com/office/drawing/2014/main" id="{A615D9CF-C200-43B3-8236-A02F6885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對應案例 7</a:t>
            </a:r>
          </a:p>
        </p:txBody>
      </p:sp>
      <p:sp>
        <p:nvSpPr>
          <p:cNvPr id="23" name="row-4-status">
            <a:extLst xmlns:a="http://schemas.openxmlformats.org/drawingml/2006/main">
              <a:ext uri="{FF2B5EF4-FFF2-40B4-BE49-F238E27FC236}">
                <a16:creationId xmlns:a16="http://schemas.microsoft.com/office/drawing/2014/main" id="{6FC8742B-D7C5-456A-A7EC-05C3956D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1E3"/>
                </a:solidFill>
                <a:latin typeface="Aptos"/>
                <a:ea typeface="Aptos"/>
                <a:cs typeface="Aptos"/>
              </a:rPr>
              <a:t>直接對應</a:t>
            </a:r>
          </a:p>
        </p:txBody>
      </p:sp>
      <p:sp>
        <p:nvSpPr>
          <p:cNvPr id="24" name="row-4-rule">
            <a:extLst xmlns:a="http://schemas.openxmlformats.org/drawingml/2006/main">
              <a:ext uri="{FF2B5EF4-FFF2-40B4-BE49-F238E27FC236}">
                <a16:creationId xmlns:a16="http://schemas.microsoft.com/office/drawing/2014/main" id="{1295826B-E4A0-4465-A85B-DD9B52CF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5" name="row-5-name">
            <a:extLst xmlns:a="http://schemas.openxmlformats.org/drawingml/2006/main">
              <a:ext uri="{FF2B5EF4-FFF2-40B4-BE49-F238E27FC236}">
                <a16:creationId xmlns:a16="http://schemas.microsoft.com/office/drawing/2014/main" id="{DE37BA78-A667-4E92-8225-24A3CB46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1F"/>
                </a:solidFill>
                <a:latin typeface="Aptos"/>
                <a:ea typeface="Aptos"/>
                <a:cs typeface="Aptos"/>
              </a:rPr>
              <a:t>會議記錄分析</a:t>
            </a:r>
          </a:p>
        </p:txBody>
      </p:sp>
      <p:sp>
        <p:nvSpPr>
          <p:cNvPr id="26" name="row-5-mapping">
            <a:extLst xmlns:a="http://schemas.openxmlformats.org/drawingml/2006/main">
              <a:ext uri="{FF2B5EF4-FFF2-40B4-BE49-F238E27FC236}">
                <a16:creationId xmlns:a16="http://schemas.microsoft.com/office/drawing/2014/main" id="{A3FC3919-5898-49E1-92F9-B49F71F3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對應案例 8</a:t>
            </a:r>
          </a:p>
        </p:txBody>
      </p:sp>
      <p:sp>
        <p:nvSpPr>
          <p:cNvPr id="27" name="row-5-status">
            <a:extLst xmlns:a="http://schemas.openxmlformats.org/drawingml/2006/main">
              <a:ext uri="{FF2B5EF4-FFF2-40B4-BE49-F238E27FC236}">
                <a16:creationId xmlns:a16="http://schemas.microsoft.com/office/drawing/2014/main" id="{CC525726-A45B-4032-9BA2-832CD2BA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1E3"/>
                </a:solidFill>
                <a:latin typeface="Aptos"/>
                <a:ea typeface="Aptos"/>
                <a:cs typeface="Aptos"/>
              </a:rPr>
              <a:t>直接對應</a:t>
            </a:r>
          </a:p>
        </p:txBody>
      </p:sp>
      <p:sp>
        <p:nvSpPr>
          <p:cNvPr id="28" name="row-5-rule">
            <a:extLst xmlns:a="http://schemas.openxmlformats.org/drawingml/2006/main">
              <a:ext uri="{FF2B5EF4-FFF2-40B4-BE49-F238E27FC236}">
                <a16:creationId xmlns:a16="http://schemas.microsoft.com/office/drawing/2014/main" id="{CD35C41B-99B0-409F-AEC7-38D89372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9" name="row-6-name">
            <a:extLst xmlns:a="http://schemas.openxmlformats.org/drawingml/2006/main">
              <a:ext uri="{FF2B5EF4-FFF2-40B4-BE49-F238E27FC236}">
                <a16:creationId xmlns:a16="http://schemas.microsoft.com/office/drawing/2014/main" id="{6A95696C-B81E-40E6-AB0A-D7248670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1F"/>
                </a:solidFill>
                <a:latin typeface="Aptos"/>
                <a:ea typeface="Aptos"/>
                <a:cs typeface="Aptos"/>
              </a:rPr>
              <a:t>建立工作區導覽卡</a:t>
            </a:r>
          </a:p>
        </p:txBody>
      </p:sp>
      <p:sp>
        <p:nvSpPr>
          <p:cNvPr id="30" name="row-6-mapping">
            <a:extLst xmlns:a="http://schemas.openxmlformats.org/drawingml/2006/main">
              <a:ext uri="{FF2B5EF4-FFF2-40B4-BE49-F238E27FC236}">
                <a16:creationId xmlns:a16="http://schemas.microsoft.com/office/drawing/2014/main" id="{EBD6F24F-AB88-4EF9-BB3E-DBFBDBB5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對應案例 3</a:t>
            </a:r>
          </a:p>
        </p:txBody>
      </p:sp>
      <p:sp>
        <p:nvSpPr>
          <p:cNvPr id="31" name="row-6-status">
            <a:extLst xmlns:a="http://schemas.openxmlformats.org/drawingml/2006/main">
              <a:ext uri="{FF2B5EF4-FFF2-40B4-BE49-F238E27FC236}">
                <a16:creationId xmlns:a16="http://schemas.microsoft.com/office/drawing/2014/main" id="{D222A3BD-FA10-4CD2-99F5-839F9AAB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0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1E3"/>
                </a:solidFill>
                <a:latin typeface="Aptos"/>
                <a:ea typeface="Aptos"/>
                <a:cs typeface="Aptos"/>
              </a:rPr>
              <a:t>直接對應</a:t>
            </a:r>
          </a:p>
        </p:txBody>
      </p:sp>
      <p:sp>
        <p:nvSpPr>
          <p:cNvPr id="32" name="row-6-rule">
            <a:extLst xmlns:a="http://schemas.openxmlformats.org/drawingml/2006/main">
              <a:ext uri="{FF2B5EF4-FFF2-40B4-BE49-F238E27FC236}">
                <a16:creationId xmlns:a16="http://schemas.microsoft.com/office/drawing/2014/main" id="{B5E294F6-8A50-47D8-ADED-796A6496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3" name="row-7-name">
            <a:extLst xmlns:a="http://schemas.openxmlformats.org/drawingml/2006/main">
              <a:ext uri="{FF2B5EF4-FFF2-40B4-BE49-F238E27FC236}">
                <a16:creationId xmlns:a16="http://schemas.microsoft.com/office/drawing/2014/main" id="{2A6B5A52-13B7-4459-9541-B26FC53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每週／月一鍵整理進度簡報</a:t>
            </a:r>
          </a:p>
        </p:txBody>
      </p:sp>
      <p:sp>
        <p:nvSpPr>
          <p:cNvPr id="34" name="row-7-mapping">
            <a:extLst xmlns:a="http://schemas.openxmlformats.org/drawingml/2006/main">
              <a:ext uri="{FF2B5EF4-FFF2-40B4-BE49-F238E27FC236}">
                <a16:creationId xmlns:a16="http://schemas.microsoft.com/office/drawing/2014/main" id="{60F63A30-B7CC-4CC9-8512-DFDE0F4B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24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15C0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15C00"/>
                </a:solidFill>
                <a:latin typeface="Aptos"/>
                <a:ea typeface="Aptos"/>
                <a:cs typeface="Aptos"/>
              </a:rPr>
              <a:t>新增／改題</a:t>
            </a:r>
          </a:p>
        </p:txBody>
      </p:sp>
      <p:sp>
        <p:nvSpPr>
          <p:cNvPr id="35" name="row-7-status">
            <a:extLst xmlns:a="http://schemas.openxmlformats.org/drawingml/2006/main">
              <a:ext uri="{FF2B5EF4-FFF2-40B4-BE49-F238E27FC236}">
                <a16:creationId xmlns:a16="http://schemas.microsoft.com/office/drawing/2014/main" id="{2D4D1E45-6415-4D0B-BE90-AAF450B8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244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A15C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15C00"/>
                </a:solidFill>
                <a:latin typeface="Aptos"/>
                <a:ea typeface="Aptos"/>
                <a:cs typeface="Aptos"/>
              </a:rPr>
              <a:t>需決策</a:t>
            </a:r>
          </a:p>
        </p:txBody>
      </p:sp>
      <p:sp>
        <p:nvSpPr>
          <p:cNvPr id="36" name="row-7-rule">
            <a:extLst xmlns:a="http://schemas.openxmlformats.org/drawingml/2006/main">
              <a:ext uri="{FF2B5EF4-FFF2-40B4-BE49-F238E27FC236}">
                <a16:creationId xmlns:a16="http://schemas.microsoft.com/office/drawing/2014/main" id="{88AE9148-5D69-4654-B182-4F749AD0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7" name="table-takeaway">
            <a:extLst xmlns:a="http://schemas.openxmlformats.org/drawingml/2006/main">
              <a:ext uri="{FF2B5EF4-FFF2-40B4-BE49-F238E27FC236}">
                <a16:creationId xmlns:a16="http://schemas.microsoft.com/office/drawing/2014/main" id="{AA8A1713-B7BC-4D81-B090-B6450893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先決定兩項改題是否保留，才能鎖定最終 10 項案例清單。</a:t>
            </a: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6DE0B0D5-E785-41CA-B55A-0E8A5CA2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專案或習慣的排程與進度追蹤｜2026 W31</a:t>
            </a:r>
          </a:p>
        </p:txBody>
      </p:sp>
    </p:spTree>
    <p:extLst>
      <p:ext uri="{BB962C8B-B14F-4D97-AF65-F5344CB8AC3E}">
        <p14:creationId xmlns:p14="http://schemas.microsoft.com/office/powerpoint/2010/main" val="236285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53E4E25-2147-49B3-A2F1-0563E422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目前的關鍵缺口，是案例清單尚未完全對齊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BE26F3CD-8FDD-4A9A-B55F-5A835457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90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4853A641-912D-47C9-92A2-C89D732E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" name="missing-title">
            <a:extLst xmlns:a="http://schemas.openxmlformats.org/drawingml/2006/main">
              <a:ext uri="{FF2B5EF4-FFF2-40B4-BE49-F238E27FC236}">
                <a16:creationId xmlns:a16="http://schemas.microsoft.com/office/drawing/2014/main" id="{A800D84D-E7D4-46B7-9510-19E54B9D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原排程尚未找到直接對應初稿</a:t>
            </a:r>
          </a:p>
        </p:txBody>
      </p:sp>
      <p:sp>
        <p:nvSpPr>
          <p:cNvPr id="5" name="missing-1-dot">
            <a:extLst xmlns:a="http://schemas.openxmlformats.org/drawingml/2006/main">
              <a:ext uri="{FF2B5EF4-FFF2-40B4-BE49-F238E27FC236}">
                <a16:creationId xmlns:a16="http://schemas.microsoft.com/office/drawing/2014/main" id="{74F1D4E1-FF51-4D9D-96E1-993F7737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6" name="missing-1">
            <a:extLst xmlns:a="http://schemas.openxmlformats.org/drawingml/2006/main">
              <a:ext uri="{FF2B5EF4-FFF2-40B4-BE49-F238E27FC236}">
                <a16:creationId xmlns:a16="http://schemas.microsoft.com/office/drawing/2014/main" id="{AFF51D0D-8027-40E0-8B27-2FF25D6E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D1D1F"/>
                </a:solidFill>
                <a:latin typeface="Aptos"/>
                <a:ea typeface="Aptos"/>
                <a:cs typeface="Aptos"/>
              </a:rPr>
              <a:t>一頁式專案立案單</a:t>
            </a:r>
          </a:p>
        </p:txBody>
      </p:sp>
      <p:sp>
        <p:nvSpPr>
          <p:cNvPr id="7" name="missing-2-dot">
            <a:extLst xmlns:a="http://schemas.openxmlformats.org/drawingml/2006/main">
              <a:ext uri="{FF2B5EF4-FFF2-40B4-BE49-F238E27FC236}">
                <a16:creationId xmlns:a16="http://schemas.microsoft.com/office/drawing/2014/main" id="{D43A44DD-AF21-4AA6-9EF0-0EB6C80B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8" name="missing-2">
            <a:extLst xmlns:a="http://schemas.openxmlformats.org/drawingml/2006/main">
              <a:ext uri="{FF2B5EF4-FFF2-40B4-BE49-F238E27FC236}">
                <a16:creationId xmlns:a16="http://schemas.microsoft.com/office/drawing/2014/main" id="{E26682C3-6B2A-4201-9EBC-8C82DB37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D1D1F"/>
                </a:solidFill>
                <a:latin typeface="Aptos"/>
                <a:ea typeface="Aptos"/>
                <a:cs typeface="Aptos"/>
              </a:rPr>
              <a:t>專案資料夾架構</a:t>
            </a:r>
          </a:p>
        </p:txBody>
      </p:sp>
      <p:sp>
        <p:nvSpPr>
          <p:cNvPr id="9" name="missing-3-dot">
            <a:extLst xmlns:a="http://schemas.openxmlformats.org/drawingml/2006/main">
              <a:ext uri="{FF2B5EF4-FFF2-40B4-BE49-F238E27FC236}">
                <a16:creationId xmlns:a16="http://schemas.microsoft.com/office/drawing/2014/main" id="{1F20197E-28DE-4F89-8FAB-A3DD6516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10" name="missing-3">
            <a:extLst xmlns:a="http://schemas.openxmlformats.org/drawingml/2006/main">
              <a:ext uri="{FF2B5EF4-FFF2-40B4-BE49-F238E27FC236}">
                <a16:creationId xmlns:a16="http://schemas.microsoft.com/office/drawing/2014/main" id="{6CB7CDA0-CC55-4512-9F19-43C008D2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D1D1F"/>
                </a:solidFill>
                <a:latin typeface="Aptos"/>
                <a:ea typeface="Aptos"/>
                <a:cs typeface="Aptos"/>
              </a:rPr>
              <a:t>四象限專案待辦</a:t>
            </a:r>
          </a:p>
        </p:txBody>
      </p:sp>
      <p:sp>
        <p:nvSpPr>
          <p:cNvPr id="11" name="missing-4-dot">
            <a:extLst xmlns:a="http://schemas.openxmlformats.org/drawingml/2006/main">
              <a:ext uri="{FF2B5EF4-FFF2-40B4-BE49-F238E27FC236}">
                <a16:creationId xmlns:a16="http://schemas.microsoft.com/office/drawing/2014/main" id="{E5C5BB7B-D6DA-4801-AAF8-211BF3DE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12" name="missing-4">
            <a:extLst xmlns:a="http://schemas.openxmlformats.org/drawingml/2006/main">
              <a:ext uri="{FF2B5EF4-FFF2-40B4-BE49-F238E27FC236}">
                <a16:creationId xmlns:a16="http://schemas.microsoft.com/office/drawing/2014/main" id="{655DD92F-6262-4E1D-9FC3-7E63C9E6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D1D1F"/>
                </a:solidFill>
                <a:latin typeface="Aptos"/>
                <a:ea typeface="Aptos"/>
                <a:cs typeface="Aptos"/>
              </a:rPr>
              <a:t>未回覆郵件與等待事項</a:t>
            </a:r>
          </a:p>
        </p:txBody>
      </p:sp>
      <p:sp>
        <p:nvSpPr>
          <p:cNvPr id="13" name="missing-5-dot">
            <a:extLst xmlns:a="http://schemas.openxmlformats.org/drawingml/2006/main">
              <a:ext uri="{FF2B5EF4-FFF2-40B4-BE49-F238E27FC236}">
                <a16:creationId xmlns:a16="http://schemas.microsoft.com/office/drawing/2014/main" id="{1EF15169-A7A3-4DB4-9DA5-E3647604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14" name="missing-5">
            <a:extLst xmlns:a="http://schemas.openxmlformats.org/drawingml/2006/main">
              <a:ext uri="{FF2B5EF4-FFF2-40B4-BE49-F238E27FC236}">
                <a16:creationId xmlns:a16="http://schemas.microsoft.com/office/drawing/2014/main" id="{BD32ED38-2FF3-4DC1-8BC7-D107EABE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455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D1D1F"/>
                </a:solidFill>
                <a:latin typeface="Aptos"/>
                <a:ea typeface="Aptos"/>
                <a:cs typeface="Aptos"/>
              </a:rPr>
              <a:t>明天的接續點</a:t>
            </a:r>
          </a:p>
        </p:txBody>
      </p:sp>
      <p:sp>
        <p:nvSpPr>
          <p:cNvPr id="15" name="decision-trunk">
            <a:extLst xmlns:a="http://schemas.openxmlformats.org/drawingml/2006/main">
              <a:ext uri="{FF2B5EF4-FFF2-40B4-BE49-F238E27FC236}">
                <a16:creationId xmlns:a16="http://schemas.microsoft.com/office/drawing/2014/main" id="{637C9C7E-CE05-4787-9D78-2D0B1B74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E73"/>
            </a:solidFill>
            <a:prstDash val="solid"/>
          </a:ln>
        </p:spPr>
      </p:sp>
      <p:sp>
        <p:nvSpPr>
          <p:cNvPr id="16" name="decision-up">
            <a:extLst xmlns:a="http://schemas.openxmlformats.org/drawingml/2006/main">
              <a:ext uri="{FF2B5EF4-FFF2-40B4-BE49-F238E27FC236}">
                <a16:creationId xmlns:a16="http://schemas.microsoft.com/office/drawing/2014/main" id="{60B890EC-FF17-466F-91DB-184B52D5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24125"/>
            <a:ext cx="80010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E73"/>
            </a:solidFill>
            <a:prstDash val="solid"/>
          </a:ln>
        </p:spPr>
      </p:sp>
      <p:sp>
        <p:nvSpPr>
          <p:cNvPr id="17" name="decision-down">
            <a:extLst xmlns:a="http://schemas.openxmlformats.org/drawingml/2006/main">
              <a:ext uri="{FF2B5EF4-FFF2-40B4-BE49-F238E27FC236}">
                <a16:creationId xmlns:a16="http://schemas.microsoft.com/office/drawing/2014/main" id="{68BBC66E-08BF-440A-ADE5-3B5CB57A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0425"/>
            <a:ext cx="80010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6E73"/>
            </a:solidFill>
            <a:prstDash val="solid"/>
          </a:ln>
        </p:spPr>
      </p:sp>
      <p:sp>
        <p:nvSpPr>
          <p:cNvPr id="18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1C8A84DF-B78E-44FB-8077-4A6F8EDD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A15C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15C00"/>
                </a:solidFill>
                <a:latin typeface="Aptos"/>
                <a:ea typeface="Aptos"/>
                <a:cs typeface="Aptos"/>
              </a:rPr>
              <a:t>需先決策</a:t>
            </a:r>
          </a:p>
        </p:txBody>
      </p:sp>
      <p:sp>
        <p:nvSpPr>
          <p:cNvPr id="19" name="option-a-bg">
            <a:extLst xmlns:a="http://schemas.openxmlformats.org/drawingml/2006/main">
              <a:ext uri="{FF2B5EF4-FFF2-40B4-BE49-F238E27FC236}">
                <a16:creationId xmlns:a16="http://schemas.microsoft.com/office/drawing/2014/main" id="{30CD1EF5-6203-4DCF-BD26-F98D2EDD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2857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0" name="option-a-title">
            <a:extLst xmlns:a="http://schemas.openxmlformats.org/drawingml/2006/main">
              <a:ext uri="{FF2B5EF4-FFF2-40B4-BE49-F238E27FC236}">
                <a16:creationId xmlns:a16="http://schemas.microsoft.com/office/drawing/2014/main" id="{0B8C9AC1-F889-407B-98E4-AF0CF5C7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補寫原題</a:t>
            </a:r>
          </a:p>
        </p:txBody>
      </p:sp>
      <p:sp>
        <p:nvSpPr>
          <p:cNvPr id="21" name="option-a-copy">
            <a:extLst xmlns:a="http://schemas.openxmlformats.org/drawingml/2006/main">
              <a:ext uri="{FF2B5EF4-FFF2-40B4-BE49-F238E27FC236}">
                <a16:creationId xmlns:a16="http://schemas.microsoft.com/office/drawing/2014/main" id="{7D8645F0-561C-4181-88C8-82C474B5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依原排程補齊 5 項內容</a:t>
            </a:r>
          </a:p>
        </p:txBody>
      </p:sp>
      <p:sp>
        <p:nvSpPr>
          <p:cNvPr id="22" name="option-b-bg">
            <a:extLst xmlns:a="http://schemas.openxmlformats.org/drawingml/2006/main">
              <a:ext uri="{FF2B5EF4-FFF2-40B4-BE49-F238E27FC236}">
                <a16:creationId xmlns:a16="http://schemas.microsoft.com/office/drawing/2014/main" id="{204D995C-C0E6-4E4B-B186-B537160E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2857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0071E3"/>
            </a:solidFill>
            <a:prstDash val="solid"/>
          </a:ln>
        </p:spPr>
      </p:sp>
      <p:sp>
        <p:nvSpPr>
          <p:cNvPr id="23" name="option-b-title">
            <a:extLst xmlns:a="http://schemas.openxmlformats.org/drawingml/2006/main">
              <a:ext uri="{FF2B5EF4-FFF2-40B4-BE49-F238E27FC236}">
                <a16:creationId xmlns:a16="http://schemas.microsoft.com/office/drawing/2014/main" id="{DE7156DC-5918-4240-BD31-9D659B30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71E3"/>
                </a:solidFill>
                <a:latin typeface="Aptos"/>
                <a:ea typeface="Aptos"/>
                <a:cs typeface="Aptos"/>
              </a:rPr>
              <a:t>確認改題</a:t>
            </a:r>
          </a:p>
        </p:txBody>
      </p:sp>
      <p:sp>
        <p:nvSpPr>
          <p:cNvPr id="24" name="option-b-copy">
            <a:extLst xmlns:a="http://schemas.openxmlformats.org/drawingml/2006/main">
              <a:ext uri="{FF2B5EF4-FFF2-40B4-BE49-F238E27FC236}">
                <a16:creationId xmlns:a16="http://schemas.microsoft.com/office/drawing/2014/main" id="{FB867A32-33CA-4C08-A160-6369C599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重整並確認最終 10 項清單</a:t>
            </a:r>
          </a:p>
        </p:txBody>
      </p:sp>
      <p:sp>
        <p:nvSpPr>
          <p:cNvPr id="25" name="risk-takeaway">
            <a:extLst xmlns:a="http://schemas.openxmlformats.org/drawingml/2006/main">
              <a:ext uri="{FF2B5EF4-FFF2-40B4-BE49-F238E27FC236}">
                <a16:creationId xmlns:a16="http://schemas.microsoft.com/office/drawing/2014/main" id="{042CDEC0-95B0-48FC-9598-10C515B5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先鎖定內容範圍，可避免最後三個案例完成後再大幅重排。</a:t>
            </a:r>
          </a:p>
        </p:txBody>
      </p:sp>
      <p:sp>
        <p:nvSpPr>
          <p:cNvPr id="26" name="footer">
            <a:extLst xmlns:a="http://schemas.openxmlformats.org/drawingml/2006/main">
              <a:ext uri="{FF2B5EF4-FFF2-40B4-BE49-F238E27FC236}">
                <a16:creationId xmlns:a16="http://schemas.microsoft.com/office/drawing/2014/main" id="{CB3B50C1-26E6-4797-A5CF-C588AEF2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專案或習慣的排程與進度追蹤｜2026 W31</a:t>
            </a:r>
          </a:p>
        </p:txBody>
      </p:sp>
    </p:spTree>
    <p:extLst>
      <p:ext uri="{BB962C8B-B14F-4D97-AF65-F5344CB8AC3E}">
        <p14:creationId xmlns:p14="http://schemas.microsoft.com/office/powerpoint/2010/main" val="541599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D24A043-0AD8-4C6F-8057-9C254FCE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rPr>
              <a:t>下一步：先鎖定題目，再完成最後三個章節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19CD35AE-DF34-4ED4-89C9-049478B4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90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C45F29B5-7220-47FD-8FF0-247B1FF0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070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4" name="timeline-1">
            <a:extLst xmlns:a="http://schemas.openxmlformats.org/drawingml/2006/main">
              <a:ext uri="{FF2B5EF4-FFF2-40B4-BE49-F238E27FC236}">
                <a16:creationId xmlns:a16="http://schemas.microsoft.com/office/drawing/2014/main" id="{4A4E568B-FD6B-4237-99A2-D23213C5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241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1E3"/>
            </a:solidFill>
            <a:prstDash val="solid"/>
          </a:ln>
        </p:spPr>
      </p:sp>
      <p:sp>
        <p:nvSpPr>
          <p:cNvPr id="5" name="timeline-2">
            <a:extLst xmlns:a="http://schemas.openxmlformats.org/drawingml/2006/main">
              <a:ext uri="{FF2B5EF4-FFF2-40B4-BE49-F238E27FC236}">
                <a16:creationId xmlns:a16="http://schemas.microsoft.com/office/drawing/2014/main" id="{28F7095E-84A1-4440-84EB-F5A06076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1E3"/>
            </a:solidFill>
            <a:prstDash val="solid"/>
          </a:ln>
        </p:spPr>
      </p:sp>
      <p:sp>
        <p:nvSpPr>
          <p:cNvPr id="6" name="timeline-3">
            <a:extLst xmlns:a="http://schemas.openxmlformats.org/drawingml/2006/main">
              <a:ext uri="{FF2B5EF4-FFF2-40B4-BE49-F238E27FC236}">
                <a16:creationId xmlns:a16="http://schemas.microsoft.com/office/drawing/2014/main" id="{75266BE9-80A3-41E6-B183-0805C748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1E3"/>
            </a:solidFill>
            <a:prstDash val="solid"/>
          </a:ln>
        </p:spPr>
      </p:sp>
      <p:sp>
        <p:nvSpPr>
          <p:cNvPr id="7" name="step-circle-1">
            <a:extLst xmlns:a="http://schemas.openxmlformats.org/drawingml/2006/main">
              <a:ext uri="{FF2B5EF4-FFF2-40B4-BE49-F238E27FC236}">
                <a16:creationId xmlns:a16="http://schemas.microsoft.com/office/drawing/2014/main" id="{CCA3C778-7888-4D05-9BF5-390954B3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D2C6E89F-4F41-4514-8513-A3DBD068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B68ECDBC-200E-4BB9-B5C0-7EB39247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確認清單</a:t>
            </a:r>
          </a:p>
        </p:txBody>
      </p:sp>
      <p:sp>
        <p:nvSpPr>
          <p:cNvPr id="10" name="step-copy-1">
            <a:extLst xmlns:a="http://schemas.openxmlformats.org/drawingml/2006/main">
              <a:ext uri="{FF2B5EF4-FFF2-40B4-BE49-F238E27FC236}">
                <a16:creationId xmlns:a16="http://schemas.microsoft.com/office/drawing/2014/main" id="{7D25BC79-555F-4C64-AFE0-FC7A637C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2057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確認最終 10 個案例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名稱與順序</a:t>
            </a:r>
          </a:p>
        </p:txBody>
      </p:sp>
      <p:sp>
        <p:nvSpPr>
          <p:cNvPr id="11" name="step-circle-2">
            <a:extLst xmlns:a="http://schemas.openxmlformats.org/drawingml/2006/main">
              <a:ext uri="{FF2B5EF4-FFF2-40B4-BE49-F238E27FC236}">
                <a16:creationId xmlns:a16="http://schemas.microsoft.com/office/drawing/2014/main" id="{0DD5687B-E386-4228-8A72-BD1C19AB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F09203F2-09EE-4B92-A27D-146D6051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955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71E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2B1321E8-FFAB-402A-90FB-71F3B53F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處理改題</a:t>
            </a:r>
          </a:p>
        </p:txBody>
      </p:sp>
      <p:sp>
        <p:nvSpPr>
          <p:cNvPr id="14" name="step-copy-2">
            <a:extLst xmlns:a="http://schemas.openxmlformats.org/drawingml/2006/main">
              <a:ext uri="{FF2B5EF4-FFF2-40B4-BE49-F238E27FC236}">
                <a16:creationId xmlns:a16="http://schemas.microsoft.com/office/drawing/2014/main" id="{F4C41C20-DB0B-43AF-AD52-EE2A0104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2057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決定保留、替換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或移至延伸案例</a:t>
            </a:r>
          </a:p>
        </p:txBody>
      </p:sp>
      <p:sp>
        <p:nvSpPr>
          <p:cNvPr id="15" name="step-circle-3">
            <a:extLst xmlns:a="http://schemas.openxmlformats.org/drawingml/2006/main">
              <a:ext uri="{FF2B5EF4-FFF2-40B4-BE49-F238E27FC236}">
                <a16:creationId xmlns:a16="http://schemas.microsoft.com/office/drawing/2014/main" id="{9D90E36E-18BA-4D84-94A7-44F2E414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16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D92EAF5A-76FA-4192-90DF-4724A641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955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71E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FF428F54-7A54-4CE3-B8C1-E65FF94E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補齊章節</a:t>
            </a:r>
          </a:p>
        </p:txBody>
      </p:sp>
      <p:sp>
        <p:nvSpPr>
          <p:cNvPr id="18" name="step-copy-3">
            <a:extLst xmlns:a="http://schemas.openxmlformats.org/drawingml/2006/main">
              <a:ext uri="{FF2B5EF4-FFF2-40B4-BE49-F238E27FC236}">
                <a16:creationId xmlns:a16="http://schemas.microsoft.com/office/drawing/2014/main" id="{0D24BE4E-76DF-467D-AFE4-2BAEB476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48100"/>
            <a:ext cx="2057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完成目前空白的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範例 8～10</a:t>
            </a:r>
          </a:p>
        </p:txBody>
      </p:sp>
      <p:sp>
        <p:nvSpPr>
          <p:cNvPr id="19" name="step-circle-4">
            <a:extLst xmlns:a="http://schemas.openxmlformats.org/drawingml/2006/main">
              <a:ext uri="{FF2B5EF4-FFF2-40B4-BE49-F238E27FC236}">
                <a16:creationId xmlns:a16="http://schemas.microsoft.com/office/drawing/2014/main" id="{C48571CD-349A-4C6C-BF85-FDAB732D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1E3"/>
            </a:solidFill>
            <a:prstDash val="solid"/>
          </a:ln>
        </p:spPr>
      </p:sp>
      <p:sp>
        <p:nvSpPr>
          <p:cNvPr id="20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E0DA2FDE-6726-46C4-A1BF-97C6D4DF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955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71E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8A62D884-9EFC-40C9-8A0C-A5C05B7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528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統一校對</a:t>
            </a:r>
          </a:p>
        </p:txBody>
      </p:sp>
      <p:sp>
        <p:nvSpPr>
          <p:cNvPr id="22" name="step-copy-4">
            <a:extLst xmlns:a="http://schemas.openxmlformats.org/drawingml/2006/main">
              <a:ext uri="{FF2B5EF4-FFF2-40B4-BE49-F238E27FC236}">
                <a16:creationId xmlns:a16="http://schemas.microsoft.com/office/drawing/2014/main" id="{D5083EA0-FBAD-4501-A7B0-9C4B435B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48100"/>
            <a:ext cx="2057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檢查編號、工具名稱、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圖說與交叉引用</a:t>
            </a:r>
          </a:p>
        </p:txBody>
      </p:sp>
      <p:sp>
        <p:nvSpPr>
          <p:cNvPr id="23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D533C880-9A94-42CD-AAA1-C33B2600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  <a:ln xmlns:a="http://schemas.openxmlformats.org/drawingml/2006/main" w="0">
            <a:solidFill>
              <a:srgbClr val="0071E3"/>
            </a:solidFill>
            <a:prstDash val="solid"/>
          </a:ln>
        </p:spPr>
      </p:sp>
      <p:sp>
        <p:nvSpPr>
          <p:cNvPr id="24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10531562-DAC1-4A90-9106-2E323CA4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43550"/>
            <a:ext cx="902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D1D1F"/>
                </a:solidFill>
                <a:latin typeface="Aptos"/>
                <a:ea typeface="Aptos"/>
                <a:cs typeface="Aptos"/>
              </a:rPr>
              <a:t>範圍先定案，後續撰寫與校對才能一次到位。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63975144-EA90-464F-8606-7937D8AB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73"/>
                </a:solidFill>
                <a:latin typeface="Aptos"/>
                <a:ea typeface="Aptos"/>
                <a:cs typeface="Aptos"/>
              </a:rPr>
              <a:t>專案或習慣的排程與進度追蹤｜2026 W31</a:t>
            </a:r>
          </a:p>
        </p:txBody>
      </p:sp>
    </p:spTree>
    <p:extLst>
      <p:ext uri="{BB962C8B-B14F-4D97-AF65-F5344CB8AC3E}">
        <p14:creationId xmlns:p14="http://schemas.microsoft.com/office/powerpoint/2010/main" val="499122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2026-07-29T03:23:50.6150000Z</dcterms:created>
  <dcterms:modified xsi:type="dcterms:W3CDTF">2026-07-29T03:23:50.6150000Z</dcterms:modified>
</coreProperties>
</file>